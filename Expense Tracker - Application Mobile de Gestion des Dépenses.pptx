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7" r:id="rId11"/>
    <p:sldId id="262" r:id="rId12"/>
    <p:sldId id="263" r:id="rId13"/>
    <p:sldId id="264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34.png"/><Relationship Id="rId21" Type="http://schemas.openxmlformats.org/officeDocument/2006/relationships/image" Target="../media/image33.png"/><Relationship Id="rId20" Type="http://schemas.openxmlformats.org/officeDocument/2006/relationships/image" Target="../media/image32.png"/><Relationship Id="rId2" Type="http://schemas.openxmlformats.org/officeDocument/2006/relationships/image" Target="../media/image6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5.png"/><Relationship Id="rId12" Type="http://schemas.openxmlformats.org/officeDocument/2006/relationships/image" Target="../media/image44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8.jpeg"/><Relationship Id="rId3" Type="http://schemas.openxmlformats.org/officeDocument/2006/relationships/image" Target="../media/image47.png"/><Relationship Id="rId2" Type="http://schemas.openxmlformats.org/officeDocument/2006/relationships/image" Target="../media/image6.png"/><Relationship Id="rId1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9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0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0" Type="http://schemas.openxmlformats.org/officeDocument/2006/relationships/notesSlide" Target="../notesSlides/notesSlide8.xml"/><Relationship Id="rId2" Type="http://schemas.openxmlformats.org/officeDocument/2006/relationships/image" Target="../media/image6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65.png"/><Relationship Id="rId17" Type="http://schemas.openxmlformats.org/officeDocument/2006/relationships/image" Target="../media/image64.png"/><Relationship Id="rId16" Type="http://schemas.openxmlformats.org/officeDocument/2006/relationships/image" Target="../media/image63.png"/><Relationship Id="rId15" Type="http://schemas.openxmlformats.org/officeDocument/2006/relationships/image" Target="../media/image62.png"/><Relationship Id="rId14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59.png"/><Relationship Id="rId11" Type="http://schemas.openxmlformats.org/officeDocument/2006/relationships/image" Target="../media/image58.png"/><Relationship Id="rId10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74.png"/><Relationship Id="rId11" Type="http://schemas.openxmlformats.org/officeDocument/2006/relationships/image" Target="../media/image73.png"/><Relationship Id="rId10" Type="http://schemas.openxmlformats.org/officeDocument/2006/relationships/image" Target="../media/image72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4" Type="http://schemas.openxmlformats.org/officeDocument/2006/relationships/notesSlide" Target="../notesSlides/notesSlide10.xm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70.png"/><Relationship Id="rId31" Type="http://schemas.openxmlformats.org/officeDocument/2006/relationships/image" Target="../media/image104.png"/><Relationship Id="rId30" Type="http://schemas.openxmlformats.org/officeDocument/2006/relationships/image" Target="../media/image103.png"/><Relationship Id="rId3" Type="http://schemas.openxmlformats.org/officeDocument/2006/relationships/image" Target="../media/image76.png"/><Relationship Id="rId29" Type="http://schemas.openxmlformats.org/officeDocument/2006/relationships/image" Target="../media/image102.png"/><Relationship Id="rId28" Type="http://schemas.openxmlformats.org/officeDocument/2006/relationships/image" Target="../media/image101.png"/><Relationship Id="rId27" Type="http://schemas.openxmlformats.org/officeDocument/2006/relationships/image" Target="../media/image100.png"/><Relationship Id="rId26" Type="http://schemas.openxmlformats.org/officeDocument/2006/relationships/image" Target="../media/image99.png"/><Relationship Id="rId25" Type="http://schemas.openxmlformats.org/officeDocument/2006/relationships/image" Target="../media/image98.png"/><Relationship Id="rId24" Type="http://schemas.openxmlformats.org/officeDocument/2006/relationships/image" Target="../media/image97.png"/><Relationship Id="rId23" Type="http://schemas.openxmlformats.org/officeDocument/2006/relationships/image" Target="../media/image96.png"/><Relationship Id="rId22" Type="http://schemas.openxmlformats.org/officeDocument/2006/relationships/image" Target="../media/image95.png"/><Relationship Id="rId21" Type="http://schemas.openxmlformats.org/officeDocument/2006/relationships/image" Target="../media/image94.png"/><Relationship Id="rId20" Type="http://schemas.openxmlformats.org/officeDocument/2006/relationships/image" Target="../media/image93.png"/><Relationship Id="rId2" Type="http://schemas.openxmlformats.org/officeDocument/2006/relationships/image" Target="../media/image6.png"/><Relationship Id="rId19" Type="http://schemas.openxmlformats.org/officeDocument/2006/relationships/image" Target="../media/image92.png"/><Relationship Id="rId18" Type="http://schemas.openxmlformats.org/officeDocument/2006/relationships/image" Target="../media/image91.png"/><Relationship Id="rId17" Type="http://schemas.openxmlformats.org/officeDocument/2006/relationships/image" Target="../media/image90.png"/><Relationship Id="rId16" Type="http://schemas.openxmlformats.org/officeDocument/2006/relationships/image" Target="../media/image89.png"/><Relationship Id="rId15" Type="http://schemas.openxmlformats.org/officeDocument/2006/relationships/image" Target="../media/image88.png"/><Relationship Id="rId14" Type="http://schemas.openxmlformats.org/officeDocument/2006/relationships/image" Target="../media/image87.png"/><Relationship Id="rId13" Type="http://schemas.openxmlformats.org/officeDocument/2006/relationships/image" Target="../media/image86.png"/><Relationship Id="rId12" Type="http://schemas.openxmlformats.org/officeDocument/2006/relationships/image" Target="../media/image85.png"/><Relationship Id="rId11" Type="http://schemas.openxmlformats.org/officeDocument/2006/relationships/image" Target="../media/image84.png"/><Relationship Id="rId10" Type="http://schemas.openxmlformats.org/officeDocument/2006/relationships/image" Target="../media/image83.png"/><Relationship Id="rId1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110.png"/><Relationship Id="rId7" Type="http://schemas.openxmlformats.org/officeDocument/2006/relationships/image" Target="../media/image109.png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6.pn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16.png"/><Relationship Id="rId13" Type="http://schemas.openxmlformats.org/officeDocument/2006/relationships/image" Target="../media/image115.png"/><Relationship Id="rId12" Type="http://schemas.openxmlformats.org/officeDocument/2006/relationships/image" Target="../media/image114.png"/><Relationship Id="rId11" Type="http://schemas.openxmlformats.org/officeDocument/2006/relationships/image" Target="../media/image113.png"/><Relationship Id="rId10" Type="http://schemas.openxmlformats.org/officeDocument/2006/relationships/image" Target="../media/image112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81400"/>
            <a:ext cx="3335536" cy="1143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0" y="1634244"/>
            <a:ext cx="4693920" cy="358936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760" y="1723930"/>
            <a:ext cx="4378479" cy="340999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23900" y="1495425"/>
            <a:ext cx="323486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highlight>
                  <a:srgbClr val="FFFFFF"/>
                </a:highligh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Projet de Développement Mobile</a:t>
            </a:r>
            <a:endParaRPr lang="en-US" sz="1050" dirty="0"/>
          </a:p>
        </p:txBody>
      </p:sp>
      <p:sp>
        <p:nvSpPr>
          <p:cNvPr id="7" name="Text 1"/>
          <p:cNvSpPr/>
          <p:nvPr/>
        </p:nvSpPr>
        <p:spPr>
          <a:xfrm>
            <a:off x="609600" y="1790700"/>
            <a:ext cx="5046524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Expense Tracker</a:t>
            </a:r>
            <a:endParaRPr lang="en-US" sz="3600" dirty="0"/>
          </a:p>
        </p:txBody>
      </p:sp>
      <p:sp>
        <p:nvSpPr>
          <p:cNvPr id="8" name="Text 2"/>
          <p:cNvSpPr/>
          <p:nvPr/>
        </p:nvSpPr>
        <p:spPr>
          <a:xfrm>
            <a:off x="609600" y="2590800"/>
            <a:ext cx="54864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Mobile de Gestion des Dépenses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571500" y="3733800"/>
            <a:ext cx="386548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Fonctionnement hors ligne (offline-first)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571500" y="4038600"/>
            <a:ext cx="386548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Synchronisation cloud sécurisée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571500" y="4343400"/>
            <a:ext cx="386548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Statistiques et prédictions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09600" y="5181600"/>
            <a:ext cx="75259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Juin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81200"/>
            <a:ext cx="36576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0" y="22098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1212" y="234315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981200"/>
            <a:ext cx="3657600" cy="1981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22098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981200"/>
            <a:ext cx="3657600" cy="1981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450" y="22098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2188" y="234315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267200"/>
            <a:ext cx="11430000" cy="1485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819650"/>
            <a:ext cx="257175" cy="3810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209550"/>
            <a:ext cx="5224582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Problématique et Contexte</a:t>
            </a:r>
            <a:endParaRPr lang="en-US" sz="2250" dirty="0"/>
          </a:p>
        </p:txBody>
      </p:sp>
      <p:sp>
        <p:nvSpPr>
          <p:cNvPr id="15" name="Text 1"/>
          <p:cNvSpPr/>
          <p:nvPr/>
        </p:nvSpPr>
        <p:spPr>
          <a:xfrm>
            <a:off x="381000" y="1143000"/>
            <a:ext cx="1143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gestion des dépenses personnelles est souvent entravée par des applications qui ne répondent plus aux attentes modernes. Nous identifions plusieurs problèmes critiques :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1665982" y="2933700"/>
            <a:ext cx="130516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Complexité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609600" y="3276600"/>
            <a:ext cx="320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Applications trop complexes avec une interface utilisateur non intuitive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5114925" y="2933700"/>
            <a:ext cx="23545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Dépendance Réseau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4495800" y="3276600"/>
            <a:ext cx="320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Fonctionnalité limitée sans connexion Internet, peu d'options offline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8767316" y="2933700"/>
            <a:ext cx="291554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Manque de Transparence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8382000" y="3276600"/>
            <a:ext cx="320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Absence de fonctionnalités d'exportation ou de transparence des données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1019175" y="4495800"/>
            <a:ext cx="1056322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Besoin du marché</a:t>
            </a:r>
            <a:endParaRPr lang="en-US" sz="1500" dirty="0"/>
          </a:p>
        </p:txBody>
      </p:sp>
      <p:sp>
        <p:nvSpPr>
          <p:cNvPr id="23" name="Text 9"/>
          <p:cNvSpPr/>
          <p:nvPr/>
        </p:nvSpPr>
        <p:spPr>
          <a:xfrm>
            <a:off x="1019175" y="4838700"/>
            <a:ext cx="10563225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Il existe un besoin clair pour une application mobile simple, fonctionnant hors ligne, capable de gérer les dépenses rapidement, de fournir des statistiques utiles et d'offrir une sauvegarde/restauration fiable des données par utilisateur via le cloud, tout en supportant un usage multi-utilisateur sécurisé.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66800"/>
            <a:ext cx="5638800" cy="4248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2573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13620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95262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85950"/>
            <a:ext cx="4886176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6765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609850"/>
            <a:ext cx="3827711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400425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333750"/>
            <a:ext cx="3116461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412432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057650"/>
            <a:ext cx="2757636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066800"/>
            <a:ext cx="5638800" cy="4248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25730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7963" y="1362075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1885950"/>
            <a:ext cx="5143500" cy="838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2905125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24650" y="2838450"/>
            <a:ext cx="4630043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3629025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6550" y="3562350"/>
            <a:ext cx="5010150" cy="838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4581525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500" y="4514850"/>
            <a:ext cx="3696295" cy="6096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09550"/>
            <a:ext cx="362348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Objectifs du Projet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1085850" y="1343025"/>
            <a:ext cx="34457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Objectifs Fonctionnels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838200" y="1962150"/>
            <a:ext cx="473377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 CRUD des dépenses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838200" y="2190750"/>
            <a:ext cx="568053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Ajout, consultation, modification et suppression des dépenses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838200" y="2686050"/>
            <a:ext cx="367531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Statistiques utiles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838200" y="2914650"/>
            <a:ext cx="441037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Totaux mensuels, moyenne, tendance et alertes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876300" y="3409950"/>
            <a:ext cx="355687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Isolation des données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876300" y="3638550"/>
            <a:ext cx="355687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Séparation des données par utilisateur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876300" y="4133850"/>
            <a:ext cx="312628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Sauvegarde et restauration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876300" y="4362450"/>
            <a:ext cx="312628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Sauvegarde sécurisée via le cloud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7029450" y="1343025"/>
            <a:ext cx="3200579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Objectifs Techniques</a:t>
            </a:r>
            <a:endParaRPr lang="en-US" sz="1800" dirty="0"/>
          </a:p>
        </p:txBody>
      </p:sp>
      <p:sp>
        <p:nvSpPr>
          <p:cNvPr id="36" name="Text 11"/>
          <p:cNvSpPr/>
          <p:nvPr/>
        </p:nvSpPr>
        <p:spPr>
          <a:xfrm>
            <a:off x="6629400" y="1962150"/>
            <a:ext cx="4991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Fonctionnement hors-ligne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629400" y="2190750"/>
            <a:ext cx="4991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fonctionnement sans connexion Internet grâce à un stockage local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800850" y="2914650"/>
            <a:ext cx="447764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Performances optimales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6800850" y="3143250"/>
            <a:ext cx="537317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Temps de chargement et de réponse optimisés localement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762750" y="3638550"/>
            <a:ext cx="4857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Séparation des données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6762750" y="3867150"/>
            <a:ext cx="4857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garantissant l'isolement des données par utilisateur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6743700" y="4591050"/>
            <a:ext cx="425267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Expérience utilisateur adaptée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6743700" y="4819650"/>
            <a:ext cx="425267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Interface cohérente et optimisée pour mobiles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62100"/>
            <a:ext cx="3657600" cy="2590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562100"/>
            <a:ext cx="36576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5013" y="1752600"/>
            <a:ext cx="25717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57500"/>
            <a:ext cx="33528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62300"/>
            <a:ext cx="33528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95700"/>
            <a:ext cx="33528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562100"/>
            <a:ext cx="3657600" cy="2590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562100"/>
            <a:ext cx="36576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175260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857500"/>
            <a:ext cx="33528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3162300"/>
            <a:ext cx="33528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695700"/>
            <a:ext cx="33528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1676400"/>
            <a:ext cx="3657600" cy="2362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1676400"/>
            <a:ext cx="36576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4088" y="1866900"/>
            <a:ext cx="428625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2971800"/>
            <a:ext cx="33528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3276600"/>
            <a:ext cx="335280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3581400"/>
            <a:ext cx="33528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381500"/>
            <a:ext cx="11582400" cy="1028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49530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9850" y="495300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4401" y="4953000"/>
            <a:ext cx="190500" cy="2667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209550"/>
            <a:ext cx="3530977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 Proposée</a:t>
            </a:r>
            <a:endParaRPr lang="en-US" sz="2250" dirty="0"/>
          </a:p>
        </p:txBody>
      </p:sp>
      <p:sp>
        <p:nvSpPr>
          <p:cNvPr id="27" name="Text 1"/>
          <p:cNvSpPr/>
          <p:nvPr/>
        </p:nvSpPr>
        <p:spPr>
          <a:xfrm>
            <a:off x="-853440" y="1066800"/>
            <a:ext cx="138988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technique moderne pour répondre aux besoins identifiés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21920" y="2476500"/>
            <a:ext cx="4023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Front-end Mobile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571500" y="2857500"/>
            <a:ext cx="3886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Technologie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React Native (Expo)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571500" y="3162300"/>
            <a:ext cx="323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Avantage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Développement multiplateforme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571500" y="3695700"/>
            <a:ext cx="3886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Navigation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React Navigation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4084320" y="2476500"/>
            <a:ext cx="4023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Persistance Locale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4533900" y="2857500"/>
            <a:ext cx="3886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Technologie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SQLite (expo-sqlite)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4533900" y="3162300"/>
            <a:ext cx="323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Avantage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Stockage robuste et performant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4533900" y="3695700"/>
            <a:ext cx="3886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Offline-first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8382000" y="2590800"/>
            <a:ext cx="3352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Services Cloud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8496300" y="2971800"/>
            <a:ext cx="3886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Technologie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Firebase Authentication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8496300" y="3276600"/>
            <a:ext cx="3886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Avantage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Authentification sécurisée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8496300" y="3581400"/>
            <a:ext cx="3886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 :</a:t>
            </a: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Sauvegarde/restauration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495300" y="4572000"/>
            <a:ext cx="11201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Comment cette solution répond aux besoins :</a:t>
            </a: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800100" y="4972050"/>
            <a:ext cx="315664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Fonctionnement hors ligne garanti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4584650" y="4972050"/>
            <a:ext cx="361134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Isolation stricte des données utilisateur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8369201" y="4972050"/>
            <a:ext cx="361313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Synchronisation sécurisée des données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11734800" cy="47625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209550"/>
            <a:ext cx="6092011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Diagramme de Cas d'Utilisation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457200" y="2094230"/>
            <a:ext cx="11734800" cy="106426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diagramme de cas d'utilisation</a:t>
            </a:r>
            <a:endParaRPr lang="en-US" sz="1350" dirty="0">
              <a:solidFill>
                <a:srgbClr val="393E46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illustre les fonctionnalités principales de</a:t>
            </a:r>
            <a:endParaRPr lang="en-US" sz="1350" dirty="0">
              <a:solidFill>
                <a:srgbClr val="393E46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l'application Expense Tracker et les interactions </a:t>
            </a:r>
            <a:endParaRPr lang="en-US" sz="1350" dirty="0">
              <a:solidFill>
                <a:srgbClr val="393E46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 l'utilisateur avec le système.</a:t>
            </a:r>
            <a:endParaRPr lang="en-US" sz="1350" dirty="0"/>
          </a:p>
        </p:txBody>
      </p:sp>
      <p:pic>
        <p:nvPicPr>
          <p:cNvPr id="32" name="Picture 31" descr="WhatsApp Image 2026-01-05 at 21.34.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775" y="95250"/>
            <a:ext cx="5781675" cy="6344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81000" y="209550"/>
            <a:ext cx="418480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Diagramme de Classe</a:t>
            </a:r>
            <a:endParaRPr lang="en-US" sz="2250" dirty="0"/>
          </a:p>
        </p:txBody>
      </p:sp>
      <p:sp>
        <p:nvSpPr>
          <p:cNvPr id="10" name="Text 1"/>
          <p:cNvSpPr/>
          <p:nvPr/>
        </p:nvSpPr>
        <p:spPr>
          <a:xfrm>
            <a:off x="304800" y="1066800"/>
            <a:ext cx="11582400" cy="141986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diagramme de classe détaille</a:t>
            </a:r>
            <a:endParaRPr lang="en-US" sz="1350" dirty="0">
              <a:solidFill>
                <a:srgbClr val="393E46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la structure des données et les relations</a:t>
            </a:r>
            <a:endParaRPr lang="en-US" sz="1350" dirty="0">
              <a:solidFill>
                <a:srgbClr val="393E46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entre les composants de l'application.</a:t>
            </a:r>
            <a:endParaRPr lang="en-US" sz="1350" dirty="0">
              <a:solidFill>
                <a:srgbClr val="393E46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L'entité centrale est </a:t>
            </a:r>
            <a:r>
              <a:rPr lang="en-US" sz="135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Expense</a:t>
            </a: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gérée par plusieurs</a:t>
            </a:r>
            <a:endParaRPr lang="en-US" sz="1350" dirty="0">
              <a:solidFill>
                <a:srgbClr val="393E46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services.</a:t>
            </a:r>
            <a:endParaRPr lang="en-US" sz="1350" dirty="0"/>
          </a:p>
        </p:txBody>
      </p:sp>
      <p:pic>
        <p:nvPicPr>
          <p:cNvPr id="14" name="Picture 13" descr="WhatsApp Image 2026-01-05 at 21.34.43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0" y="209550"/>
            <a:ext cx="6939915" cy="6378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81000" y="209550"/>
            <a:ext cx="418480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Diagramme de sequence </a:t>
            </a:r>
            <a:endParaRPr lang="en-US" sz="2250" dirty="0"/>
          </a:p>
        </p:txBody>
      </p:sp>
      <p:pic>
        <p:nvPicPr>
          <p:cNvPr id="4" name="Picture 3" descr="WhatsApp Image 2026-01-05 at 22.03.58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155" y="912495"/>
            <a:ext cx="101600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828800"/>
            <a:ext cx="7620000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124075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275" y="22288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696" y="1981200"/>
            <a:ext cx="1406872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569" y="1981200"/>
            <a:ext cx="1774031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3162300"/>
            <a:ext cx="76200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400" y="3457575"/>
            <a:ext cx="460028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9277" y="356235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8382" y="3314700"/>
            <a:ext cx="121533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3713" y="3314700"/>
            <a:ext cx="1502718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6430" y="3314700"/>
            <a:ext cx="140717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334000"/>
            <a:ext cx="7620000" cy="1066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400" y="5629275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90800" y="57340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87963" y="5486400"/>
            <a:ext cx="1973461" cy="76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1424" y="5486400"/>
            <a:ext cx="1692176" cy="762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1127125"/>
            <a:ext cx="11582400" cy="4454723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209550"/>
            <a:ext cx="4480381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Technique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304800" y="1066800"/>
            <a:ext cx="11582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L'architecture de l'application Expense Tracker est conçue pour assurer une modularité et une gestion efficace des différentes fonctionnalités.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3067050" y="2114550"/>
            <a:ext cx="350564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3067050" y="2381250"/>
            <a:ext cx="420677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 structurée des écrans de l'application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6648896" y="2076450"/>
            <a:ext cx="1505367" cy="1809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8C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AuthNavigator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6648896" y="2286000"/>
            <a:ext cx="1254472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Connexion, Inscription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8055769" y="2076450"/>
            <a:ext cx="1419285" cy="1809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8C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AppNavigator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8055769" y="2286000"/>
            <a:ext cx="1621631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Tableau de bord, Ajout, Historique, Paramètres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3050828" y="3333750"/>
            <a:ext cx="309306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Couche de Services</a:t>
            </a:r>
            <a:endParaRPr lang="en-US" sz="1350" dirty="0"/>
          </a:p>
        </p:txBody>
      </p:sp>
      <p:sp>
        <p:nvSpPr>
          <p:cNvPr id="30" name="Text 9"/>
          <p:cNvSpPr/>
          <p:nvPr/>
        </p:nvSpPr>
        <p:spPr>
          <a:xfrm>
            <a:off x="3050828" y="3600450"/>
            <a:ext cx="2577554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 des opérations spécifiques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5704582" y="3409950"/>
            <a:ext cx="1231583" cy="1809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ECC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authService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5704582" y="3619500"/>
            <a:ext cx="106293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Authentification &amp; Sessions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6919913" y="3409950"/>
            <a:ext cx="1620381" cy="1809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ECC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expenseService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919913" y="3619500"/>
            <a:ext cx="1350318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CRUD dépenses &amp; Migration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8422630" y="3409950"/>
            <a:ext cx="1505724" cy="1809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ECC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backupService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8422630" y="3619500"/>
            <a:ext cx="12547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Sauvegarde &amp; Restauration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3067050" y="5619750"/>
            <a:ext cx="362509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Intégration des Données</a:t>
            </a:r>
            <a:endParaRPr lang="en-US" sz="1350" dirty="0"/>
          </a:p>
        </p:txBody>
      </p:sp>
      <p:sp>
        <p:nvSpPr>
          <p:cNvPr id="38" name="Text 17"/>
          <p:cNvSpPr/>
          <p:nvPr/>
        </p:nvSpPr>
        <p:spPr>
          <a:xfrm>
            <a:off x="3067050" y="5886450"/>
            <a:ext cx="362509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Stockage local et synchronisation cloud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6164163" y="5581650"/>
            <a:ext cx="677942" cy="1809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SQLite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6164163" y="5791200"/>
            <a:ext cx="1821061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expo-sqlite - Persistance &amp; Requêtes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8137624" y="5581650"/>
            <a:ext cx="889040" cy="1809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Firebase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8137624" y="5791200"/>
            <a:ext cx="1539776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 + RTDB - Synchronisation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66800"/>
            <a:ext cx="5676900" cy="2095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066800"/>
            <a:ext cx="5676900" cy="876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192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352550"/>
            <a:ext cx="1714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1717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4765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781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066800"/>
            <a:ext cx="5676900" cy="2095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066800"/>
            <a:ext cx="5676900" cy="876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12192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438" y="135255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1717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4765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7813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390900"/>
            <a:ext cx="5676900" cy="2095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390900"/>
            <a:ext cx="5676900" cy="876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5433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3676650"/>
            <a:ext cx="2857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4958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8006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51054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390900"/>
            <a:ext cx="5676900" cy="2095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3390900"/>
            <a:ext cx="5676900" cy="876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3543300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3676650"/>
            <a:ext cx="17145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4958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8006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51054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209550"/>
            <a:ext cx="4179808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Choix Technologiques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1181100" y="1371600"/>
            <a:ext cx="235475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Expo/React Native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723900" y="2133600"/>
            <a:ext cx="426767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Développement multiplateforme (iOS/Android)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723900" y="2438400"/>
            <a:ext cx="478041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Itérations rapides avec écosystème d'outils intégrés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723900" y="2743200"/>
            <a:ext cx="568160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Avantage significatif en termes de rapidité de développement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7086600" y="1371600"/>
            <a:ext cx="257478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SQLite (expo-sqlite)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6629400" y="2133600"/>
            <a:ext cx="361741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 robuste avec modèle structuré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6629400" y="2438400"/>
            <a:ext cx="521815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Requêtes performantes et contrôle complet des données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6629400" y="2743200"/>
            <a:ext cx="55510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Préféré à AsyncStorage (limité pour les requêtes complexes)</a:t>
            </a:r>
            <a:endParaRPr lang="en-US" sz="1200" dirty="0"/>
          </a:p>
        </p:txBody>
      </p:sp>
      <p:sp>
        <p:nvSpPr>
          <p:cNvPr id="41" name="Text 9"/>
          <p:cNvSpPr/>
          <p:nvPr/>
        </p:nvSpPr>
        <p:spPr>
          <a:xfrm>
            <a:off x="1181100" y="3695700"/>
            <a:ext cx="283910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Firebase Auth + RTDB</a:t>
            </a:r>
            <a:endParaRPr lang="en-US" sz="1500" dirty="0"/>
          </a:p>
        </p:txBody>
      </p:sp>
      <p:sp>
        <p:nvSpPr>
          <p:cNvPr id="42" name="Text 10"/>
          <p:cNvSpPr/>
          <p:nvPr/>
        </p:nvSpPr>
        <p:spPr>
          <a:xfrm>
            <a:off x="723900" y="4457700"/>
            <a:ext cx="512617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 managé pour l'authentification des utilisateurs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723900" y="4762500"/>
            <a:ext cx="53445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 simple de sauvegarde/restauration par utilisateur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723900" y="5067300"/>
            <a:ext cx="591734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Realtime Database suffisante pour le modèle de données simple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7086600" y="3695700"/>
            <a:ext cx="395263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react-native-safe-area-context</a:t>
            </a:r>
            <a:endParaRPr lang="en-US" sz="1500" dirty="0"/>
          </a:p>
        </p:txBody>
      </p:sp>
      <p:sp>
        <p:nvSpPr>
          <p:cNvPr id="46" name="Text 14"/>
          <p:cNvSpPr/>
          <p:nvPr/>
        </p:nvSpPr>
        <p:spPr>
          <a:xfrm>
            <a:off x="6629400" y="4457700"/>
            <a:ext cx="400639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Expérience utilisateur cohérente sur mobile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6629400" y="4762500"/>
            <a:ext cx="531637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Respect des zones sécurisées (encoches, barres système)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6629400" y="5067300"/>
            <a:ext cx="389012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Confort visuel optimal pour les utilisateurs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77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90600"/>
            <a:ext cx="3810000" cy="2752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90600"/>
            <a:ext cx="38100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143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352800"/>
            <a:ext cx="131891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3409950"/>
            <a:ext cx="142875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9440" y="3352800"/>
            <a:ext cx="1032718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4690" y="340995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990600"/>
            <a:ext cx="3810000" cy="27527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990600"/>
            <a:ext cx="38100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5300" y="11430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5300" y="3352800"/>
            <a:ext cx="1073348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0550" y="3409950"/>
            <a:ext cx="133350" cy="114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6273" y="3352800"/>
            <a:ext cx="771674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1523" y="3409950"/>
            <a:ext cx="104775" cy="114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990600"/>
            <a:ext cx="3810000" cy="27527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990600"/>
            <a:ext cx="38100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7700" y="11430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7700" y="3352800"/>
            <a:ext cx="805011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2950" y="3409950"/>
            <a:ext cx="114300" cy="114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20336" y="3352800"/>
            <a:ext cx="1003399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5586" y="3409950"/>
            <a:ext cx="114300" cy="114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95725"/>
            <a:ext cx="3810000" cy="275272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895725"/>
            <a:ext cx="3810000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2900" y="4048125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2900" y="6257925"/>
            <a:ext cx="979587" cy="228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8150" y="6315075"/>
            <a:ext cx="114300" cy="1143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70112" y="6257925"/>
            <a:ext cx="1067842" cy="2286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65362" y="6315075"/>
            <a:ext cx="104775" cy="1143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3895725"/>
            <a:ext cx="3810000" cy="275272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3895725"/>
            <a:ext cx="3810000" cy="4572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05300" y="4048125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05300" y="6257925"/>
            <a:ext cx="1091357" cy="2286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00550" y="6315075"/>
            <a:ext cx="142875" cy="1143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44282" y="6257925"/>
            <a:ext cx="1125438" cy="2286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39532" y="6315075"/>
            <a:ext cx="114300" cy="1143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53400" y="3895725"/>
            <a:ext cx="3810000" cy="2752725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53400" y="3895725"/>
            <a:ext cx="3810000" cy="4572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67700" y="4048125"/>
            <a:ext cx="17145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5800" y="4543425"/>
            <a:ext cx="152400" cy="1524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5800" y="4848225"/>
            <a:ext cx="152400" cy="1524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5800" y="5153025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5800" y="5457825"/>
            <a:ext cx="152400" cy="1524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5800" y="5991225"/>
            <a:ext cx="152400" cy="1524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381000" y="209550"/>
            <a:ext cx="576250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Démonstration des Interfaces</a:t>
            </a:r>
            <a:endParaRPr lang="en-US" sz="2250" dirty="0"/>
          </a:p>
        </p:txBody>
      </p:sp>
      <p:sp>
        <p:nvSpPr>
          <p:cNvPr id="53" name="Text 1"/>
          <p:cNvSpPr/>
          <p:nvPr/>
        </p:nvSpPr>
        <p:spPr>
          <a:xfrm>
            <a:off x="571500" y="990600"/>
            <a:ext cx="4572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Écran d'Authentification</a:t>
            </a:r>
            <a:endParaRPr lang="en-US" sz="1200" dirty="0"/>
          </a:p>
        </p:txBody>
      </p:sp>
      <p:sp>
        <p:nvSpPr>
          <p:cNvPr id="54" name="Text 2"/>
          <p:cNvSpPr/>
          <p:nvPr/>
        </p:nvSpPr>
        <p:spPr>
          <a:xfrm>
            <a:off x="342900" y="2895600"/>
            <a:ext cx="3581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Interface de connexion et d'inscription via email et mot de passe.</a:t>
            </a:r>
            <a:endParaRPr lang="en-US" sz="1050" dirty="0"/>
          </a:p>
        </p:txBody>
      </p:sp>
      <p:sp>
        <p:nvSpPr>
          <p:cNvPr id="55" name="Text 3"/>
          <p:cNvSpPr/>
          <p:nvPr/>
        </p:nvSpPr>
        <p:spPr>
          <a:xfrm>
            <a:off x="619125" y="3352800"/>
            <a:ext cx="158269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Authentification</a:t>
            </a:r>
            <a:endParaRPr lang="en-US" sz="900" dirty="0"/>
          </a:p>
        </p:txBody>
      </p:sp>
      <p:sp>
        <p:nvSpPr>
          <p:cNvPr id="56" name="Text 4"/>
          <p:cNvSpPr/>
          <p:nvPr/>
        </p:nvSpPr>
        <p:spPr>
          <a:xfrm>
            <a:off x="1957090" y="3352800"/>
            <a:ext cx="123926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Persistance</a:t>
            </a:r>
            <a:endParaRPr lang="en-US" sz="900" dirty="0"/>
          </a:p>
        </p:txBody>
      </p:sp>
      <p:sp>
        <p:nvSpPr>
          <p:cNvPr id="57" name="Text 5"/>
          <p:cNvSpPr/>
          <p:nvPr/>
        </p:nvSpPr>
        <p:spPr>
          <a:xfrm>
            <a:off x="4533900" y="990600"/>
            <a:ext cx="381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Tableau de Bord</a:t>
            </a:r>
            <a:endParaRPr lang="en-US" sz="1200" dirty="0"/>
          </a:p>
        </p:txBody>
      </p:sp>
      <p:sp>
        <p:nvSpPr>
          <p:cNvPr id="58" name="Text 6"/>
          <p:cNvSpPr/>
          <p:nvPr/>
        </p:nvSpPr>
        <p:spPr>
          <a:xfrm>
            <a:off x="4305300" y="2895600"/>
            <a:ext cx="3581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Aperçu des dépenses du mois, moyenne, prédiction et alertes.</a:t>
            </a:r>
            <a:endParaRPr lang="en-US" sz="1050" dirty="0"/>
          </a:p>
        </p:txBody>
      </p:sp>
      <p:sp>
        <p:nvSpPr>
          <p:cNvPr id="59" name="Text 7"/>
          <p:cNvSpPr/>
          <p:nvPr/>
        </p:nvSpPr>
        <p:spPr>
          <a:xfrm>
            <a:off x="4572000" y="3352800"/>
            <a:ext cx="12880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Statistiques</a:t>
            </a:r>
            <a:endParaRPr lang="en-US" sz="900" dirty="0"/>
          </a:p>
        </p:txBody>
      </p:sp>
      <p:sp>
        <p:nvSpPr>
          <p:cNvPr id="60" name="Text 8"/>
          <p:cNvSpPr/>
          <p:nvPr/>
        </p:nvSpPr>
        <p:spPr>
          <a:xfrm>
            <a:off x="5664398" y="3352800"/>
            <a:ext cx="92600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Alertes</a:t>
            </a:r>
            <a:endParaRPr lang="en-US" sz="900" dirty="0"/>
          </a:p>
        </p:txBody>
      </p:sp>
      <p:sp>
        <p:nvSpPr>
          <p:cNvPr id="61" name="Text 9"/>
          <p:cNvSpPr/>
          <p:nvPr/>
        </p:nvSpPr>
        <p:spPr>
          <a:xfrm>
            <a:off x="8496300" y="990600"/>
            <a:ext cx="381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Ajout de Dépenses</a:t>
            </a:r>
            <a:endParaRPr lang="en-US" sz="1200" dirty="0"/>
          </a:p>
        </p:txBody>
      </p:sp>
      <p:sp>
        <p:nvSpPr>
          <p:cNvPr id="62" name="Text 10"/>
          <p:cNvSpPr/>
          <p:nvPr/>
        </p:nvSpPr>
        <p:spPr>
          <a:xfrm>
            <a:off x="8267700" y="2895600"/>
            <a:ext cx="3581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Formulaire simple pour ajouter de nouvelles dépenses avec validation.</a:t>
            </a:r>
            <a:endParaRPr lang="en-US" sz="1050" dirty="0"/>
          </a:p>
        </p:txBody>
      </p:sp>
      <p:sp>
        <p:nvSpPr>
          <p:cNvPr id="63" name="Text 11"/>
          <p:cNvSpPr/>
          <p:nvPr/>
        </p:nvSpPr>
        <p:spPr>
          <a:xfrm>
            <a:off x="8515350" y="3352800"/>
            <a:ext cx="96601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Filtrage</a:t>
            </a:r>
            <a:endParaRPr lang="en-US" sz="900" dirty="0"/>
          </a:p>
        </p:txBody>
      </p:sp>
      <p:sp>
        <p:nvSpPr>
          <p:cNvPr id="64" name="Text 12"/>
          <p:cNvSpPr/>
          <p:nvPr/>
        </p:nvSpPr>
        <p:spPr>
          <a:xfrm>
            <a:off x="9367986" y="3352800"/>
            <a:ext cx="120407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Mise à jour</a:t>
            </a:r>
            <a:endParaRPr lang="en-US" sz="900" dirty="0"/>
          </a:p>
        </p:txBody>
      </p:sp>
      <p:sp>
        <p:nvSpPr>
          <p:cNvPr id="65" name="Text 13"/>
          <p:cNvSpPr/>
          <p:nvPr/>
        </p:nvSpPr>
        <p:spPr>
          <a:xfrm>
            <a:off x="571500" y="3895725"/>
            <a:ext cx="4572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Historique des Dépenses</a:t>
            </a:r>
            <a:endParaRPr lang="en-US" sz="1200" dirty="0"/>
          </a:p>
        </p:txBody>
      </p:sp>
      <p:sp>
        <p:nvSpPr>
          <p:cNvPr id="66" name="Text 14"/>
          <p:cNvSpPr/>
          <p:nvPr/>
        </p:nvSpPr>
        <p:spPr>
          <a:xfrm>
            <a:off x="342900" y="5800725"/>
            <a:ext cx="3581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Dépenses regroupées par mois avec totaux pour chaque section.</a:t>
            </a:r>
            <a:endParaRPr lang="en-US" sz="1050" dirty="0"/>
          </a:p>
        </p:txBody>
      </p:sp>
      <p:sp>
        <p:nvSpPr>
          <p:cNvPr id="67" name="Text 15"/>
          <p:cNvSpPr/>
          <p:nvPr/>
        </p:nvSpPr>
        <p:spPr>
          <a:xfrm>
            <a:off x="590550" y="6257925"/>
            <a:ext cx="117550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Recherche</a:t>
            </a:r>
            <a:endParaRPr lang="en-US" sz="900" dirty="0"/>
          </a:p>
        </p:txBody>
      </p:sp>
      <p:sp>
        <p:nvSpPr>
          <p:cNvPr id="68" name="Text 16"/>
          <p:cNvSpPr/>
          <p:nvPr/>
        </p:nvSpPr>
        <p:spPr>
          <a:xfrm>
            <a:off x="1608237" y="6257925"/>
            <a:ext cx="128141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Suppression</a:t>
            </a:r>
            <a:endParaRPr lang="en-US" sz="900" dirty="0"/>
          </a:p>
        </p:txBody>
      </p:sp>
      <p:sp>
        <p:nvSpPr>
          <p:cNvPr id="69" name="Text 17"/>
          <p:cNvSpPr/>
          <p:nvPr/>
        </p:nvSpPr>
        <p:spPr>
          <a:xfrm>
            <a:off x="4533900" y="3895725"/>
            <a:ext cx="381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Paramètres</a:t>
            </a:r>
            <a:endParaRPr lang="en-US" sz="1200" dirty="0"/>
          </a:p>
        </p:txBody>
      </p:sp>
      <p:sp>
        <p:nvSpPr>
          <p:cNvPr id="70" name="Text 18"/>
          <p:cNvSpPr/>
          <p:nvPr/>
        </p:nvSpPr>
        <p:spPr>
          <a:xfrm>
            <a:off x="4305300" y="5800725"/>
            <a:ext cx="3581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Options pour la sauvegarde, la déconnexion et la réinitialisation.</a:t>
            </a:r>
            <a:endParaRPr lang="en-US" sz="1050" dirty="0"/>
          </a:p>
        </p:txBody>
      </p:sp>
      <p:sp>
        <p:nvSpPr>
          <p:cNvPr id="71" name="Text 19"/>
          <p:cNvSpPr/>
          <p:nvPr/>
        </p:nvSpPr>
        <p:spPr>
          <a:xfrm>
            <a:off x="4581525" y="6257925"/>
            <a:ext cx="1309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Sauvegarde</a:t>
            </a:r>
            <a:endParaRPr lang="en-US" sz="900" dirty="0"/>
          </a:p>
        </p:txBody>
      </p:sp>
      <p:sp>
        <p:nvSpPr>
          <p:cNvPr id="72" name="Text 20"/>
          <p:cNvSpPr/>
          <p:nvPr/>
        </p:nvSpPr>
        <p:spPr>
          <a:xfrm>
            <a:off x="5691932" y="6257925"/>
            <a:ext cx="135052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Déconnexion</a:t>
            </a:r>
            <a:endParaRPr lang="en-US" sz="900" dirty="0"/>
          </a:p>
        </p:txBody>
      </p:sp>
      <p:sp>
        <p:nvSpPr>
          <p:cNvPr id="73" name="Text 21"/>
          <p:cNvSpPr/>
          <p:nvPr/>
        </p:nvSpPr>
        <p:spPr>
          <a:xfrm>
            <a:off x="8515350" y="3895725"/>
            <a:ext cx="381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Fonctionnalités Clés</a:t>
            </a:r>
            <a:endParaRPr lang="en-US" sz="1200" dirty="0"/>
          </a:p>
        </p:txBody>
      </p:sp>
      <p:sp>
        <p:nvSpPr>
          <p:cNvPr id="74" name="Text 22"/>
          <p:cNvSpPr/>
          <p:nvPr/>
        </p:nvSpPr>
        <p:spPr>
          <a:xfrm>
            <a:off x="8534400" y="4505325"/>
            <a:ext cx="36588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 complète des dépenses (CRUD)</a:t>
            </a:r>
            <a:endParaRPr lang="en-US" sz="1200" dirty="0"/>
          </a:p>
        </p:txBody>
      </p:sp>
      <p:sp>
        <p:nvSpPr>
          <p:cNvPr id="75" name="Text 23"/>
          <p:cNvSpPr/>
          <p:nvPr/>
        </p:nvSpPr>
        <p:spPr>
          <a:xfrm>
            <a:off x="8534400" y="4810125"/>
            <a:ext cx="372493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Statistiques utiles (moyenne, prédiction)</a:t>
            </a:r>
            <a:endParaRPr lang="en-US" sz="1200" dirty="0"/>
          </a:p>
        </p:txBody>
      </p:sp>
      <p:sp>
        <p:nvSpPr>
          <p:cNvPr id="76" name="Text 24"/>
          <p:cNvSpPr/>
          <p:nvPr/>
        </p:nvSpPr>
        <p:spPr>
          <a:xfrm>
            <a:off x="8534400" y="5114925"/>
            <a:ext cx="339292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Sauvegarde et restauration via cloud</a:t>
            </a:r>
            <a:endParaRPr lang="en-US" sz="1200" dirty="0"/>
          </a:p>
        </p:txBody>
      </p:sp>
      <p:sp>
        <p:nvSpPr>
          <p:cNvPr id="77" name="Text 25"/>
          <p:cNvSpPr/>
          <p:nvPr/>
        </p:nvSpPr>
        <p:spPr>
          <a:xfrm>
            <a:off x="8534400" y="5419725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Isolation stricte des données par utilisateur</a:t>
            </a:r>
            <a:endParaRPr lang="en-US" sz="1200" dirty="0"/>
          </a:p>
        </p:txBody>
      </p:sp>
      <p:sp>
        <p:nvSpPr>
          <p:cNvPr id="78" name="Text 26"/>
          <p:cNvSpPr/>
          <p:nvPr/>
        </p:nvSpPr>
        <p:spPr>
          <a:xfrm>
            <a:off x="8534400" y="5953125"/>
            <a:ext cx="363688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Fonctionnement hors ligne (offline-first)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811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562100"/>
            <a:ext cx="5524500" cy="3086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384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71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05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386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838700"/>
            <a:ext cx="55245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06730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18110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1562100"/>
            <a:ext cx="5524500" cy="7048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6764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1781175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2381250"/>
            <a:ext cx="5524500" cy="7048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49555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2600325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3200400"/>
            <a:ext cx="5524500" cy="7048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314700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3419475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4019550"/>
            <a:ext cx="5524500" cy="7048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1338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3675" y="4238625"/>
            <a:ext cx="190500" cy="266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09550"/>
            <a:ext cx="5212973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et Perspectives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685800" y="1143000"/>
            <a:ext cx="5524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Bilan du Projet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571500" y="1752600"/>
            <a:ext cx="5143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Expense Tracker est une application mobile robuste, simple et fonctionnant selon une approche "offline-first".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838200" y="2400300"/>
            <a:ext cx="4876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 efficace des dépenses personnelles avec interface utilisateur intuitive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838200" y="2933700"/>
            <a:ext cx="4876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Séparation stricte des données pour chaque utilisateur assurant la confidentialité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838200" y="3467100"/>
            <a:ext cx="4876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Fonctionnalité de sauvegarde cloud fiable via Firebase Authentication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838200" y="4000500"/>
            <a:ext cx="4876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technique modulaire facilitant les évolutions futures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819150" y="4991100"/>
            <a:ext cx="4933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projet démontre la faisabilité d'une solution complète de gestion des dépenses personnelles.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591300" y="1143000"/>
            <a:ext cx="6629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Perspectives d'Évolution</a:t>
            </a:r>
            <a:endParaRPr lang="en-US" sz="1800" dirty="0"/>
          </a:p>
        </p:txBody>
      </p:sp>
      <p:sp>
        <p:nvSpPr>
          <p:cNvPr id="34" name="Text 9"/>
          <p:cNvSpPr/>
          <p:nvPr/>
        </p:nvSpPr>
        <p:spPr>
          <a:xfrm>
            <a:off x="7029450" y="1704975"/>
            <a:ext cx="432357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Règles de Sécurité Avancées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7029450" y="1933575"/>
            <a:ext cx="432357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Implémentation de mécanismes de sécurité renforcés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7029450" y="2524125"/>
            <a:ext cx="384673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Synchronisation en Temps Réel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7029450" y="2752725"/>
            <a:ext cx="3846731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Amélioration de la synchronisation des données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7029450" y="3343275"/>
            <a:ext cx="40503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Fonctionnalités de Budget Prévisionnel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7029450" y="3571875"/>
            <a:ext cx="4050328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Ajout de capacités de prévision et de budget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7029450" y="4162425"/>
            <a:ext cx="328850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Tests Automatisés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7029450" y="4391025"/>
            <a:ext cx="3946208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93E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Développement d'une suite de tests automatisés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5620</Words>
  <Application>WPS Presentation</Application>
  <PresentationFormat>On-screen Show (16:9)</PresentationFormat>
  <Paragraphs>291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ui-sans-serif</vt:lpstr>
      <vt:lpstr>Segoe Print</vt:lpstr>
      <vt:lpstr>ui-sans-serif</vt:lpstr>
      <vt:lpstr>ui-sans-serif</vt:lpstr>
      <vt:lpstr>Calibri</vt:lpstr>
      <vt:lpstr>Microsoft YaHei</vt:lpstr>
      <vt:lpstr>Arial Unicode MS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ibtys</cp:lastModifiedBy>
  <cp:revision>2</cp:revision>
  <dcterms:created xsi:type="dcterms:W3CDTF">2026-01-05T21:15:00Z</dcterms:created>
  <dcterms:modified xsi:type="dcterms:W3CDTF">2026-01-05T21:36:43Z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33A760B48A9D437BB96B675A29A944F6_13</vt:lpwstr>
  </property>
  <property fmtid="{D5CDD505-2E9C-101B-9397-08002B2CF9AE}" pid="3" name="KSOProductBuildVer">
    <vt:lpwstr>1033-12.2.0.23196</vt:lpwstr>
  </property>
</Properties>
</file>